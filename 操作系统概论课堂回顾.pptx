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3" Type="http://schemas.openxmlformats.org/officeDocument/2006/relationships/viewProps" Target="viewProps.xml" /><Relationship Id="rId1" Type="http://schemas.openxmlformats.org/officeDocument/2006/relationships/slide" Target="slides/slide1.xml" /><Relationship Id="rId10" Type="http://schemas.openxmlformats.org/officeDocument/2006/relationships/notesMaster" Target="notesMasters/notesMaster1.xml" 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1280, height: 720, background: '#0E3F8C', position: 'relative' }}&gt;&#10;  &lt;svg width={1280} height={720} viewBox='0 0 1280 720' style={{ position: 'absolute', top: 0, left: 0, opacity: 0.16 }}&gt;&#10;    &lt;rect x='790' y='130' width='420' height='300' rx='14' fill='none' stroke='#FFFFFF' strokeWidth='2' /&gt;&#10;    &lt;text x='810' y='170' fill='#FFFFFF' fontSize='20'&gt;进程（资源分配单位）&lt;/text&gt;&#10;    &lt;rect x='820' y='195' width='360' height='60' rx='8' fill='none' stroke='#FFFFFF' strokeWidth='1.5' /&gt;&#10;    &lt;text x='860' y='232' fill='#FFFFFF' fontSize='16'&gt;共享：代码段 · 数据段 · 文件&lt;/text&gt;&#10;    &lt;rect x='820' y='280' width='108' height='120' rx='8' fill='none' stroke='#FFFFFF' strokeWidth='1.5' /&gt;&#10;    &lt;rect x='960' y='280' width='108' height='120' rx='8' fill='none' stroke='#FFFFFF' strokeWidth='1.5' /&gt;&#10;    &lt;rect x='1100' y='280' width='80' height='120' rx='8' fill='none' stroke='#FFFFFF' strokeWidth='1.5' /&gt;&#10;    &lt;text x='842' y='348' fill='#FFFFFF' fontSize='15'&gt;线程 1&lt;/text&gt;&#10;    &lt;text x='982' y='348' fill='#FFFFFF' fontSize='15'&gt;线程 2&lt;/text&gt;&#10;    &lt;text x='1116' y='348' fill='#FFFFFF' fontSize='15'&gt;线程 3&lt;/text&gt;&#10;    &lt;path d='M 120 560 H 420' stroke='#FFFFFF' strokeWidth='2' fill='none' /&gt;&#10;    &lt;circle cx='120' cy='560' r='6' fill='#FFFFFF' /&gt;&#10;    &lt;circle cx='270' cy='560' r='6' fill='#FFFFFF' /&gt;&#10;    &lt;circle cx='420' cy='560' r='6' fill='#FFFFFF' /&gt;&#10;  &lt;/svg&gt;&#10;  &lt;Box style={{ position: 'absolute', top: 140, left: 80, width: 920 }}&gt;&#10;    &lt;Box style={{ flexDirection: 'row', marginBottom: 28 }}&gt;&#10;      &lt;Box style={{ background: '#FFC107', borderRadius: 16, padding: '6px 18px' }}&gt;&#10;        &lt;Text style={{ fontSize: 18, fontWeight: 'bold', color: '#0E3F8C' }}&gt;理论课课前 · 小组课堂回顾&lt;/Text&gt;&#10;      &lt;/Box&gt;&#10;    &lt;/Box&gt;&#10;    &lt;Text style={{ fontSize: 64, fontWeight: 'bold', color: '#FFFFFF', lineHeight: 1.25 }}&gt;操作系统概论知识点回顾&lt;/Text&gt;&#10;    &lt;Text style={{ fontSize: 30, color: '#BFD4F2', marginTop: 20 }}&gt;—— 从进程到线程管理&lt;/Text&gt;&#10;    &lt;Text style={{ fontSize: 20, color: '#8FB0E0', marginTop: 44, letterSpacing: 1 }}&gt;Operating Systems Review: From Processes to Threads&lt;/Text&gt;&#10;  &lt;/Box&gt;&#10;  &lt;Box style={{ position: 'absolute', left: 80, bottom: 64, flexDirection: 'row', alignItems: 'center', gap: 36 }}&gt;&#10;    &lt;Text style={{ fontSize: 18, color: '#BFD4F2' }}&gt;课程：计算机操作系统&lt;/Text&gt;&#10;    &lt;Box style={{ width: 1, height: 20, background: '#4A6DB5' }} /&gt;&#10;    &lt;Text style={{ fontSize: 18, color: '#BFD4F2' }}&gt;时间：2026 年 10 月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762000" y="1333500"/>
            <a:ext cx="2409825" cy="323850"/>
          </a:xfrm>
          <a:prstGeom prst="roundRect">
            <a:avLst>
              <a:gd name="adj" fmla="val 47059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33450" y="1390650"/>
            <a:ext cx="2066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理论课课前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小组课堂回顾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1924050"/>
            <a:ext cx="8763000" cy="9144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操作系统概论知识点回顾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3028950"/>
            <a:ext cx="876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>
                <a:solidFill>
                  <a:srgbClr val="BFD4F2"/>
                </a:solidFill>
                <a:latin typeface="Microsoft YaHei"/>
                <a:ea typeface="Microsoft YaHei"/>
              </a:rPr>
              <a:t xml:space="preserve">—— </a:t>
            </a:r>
            <a:r>
              <a:rPr lang="zh-CN" sz="2250">
                <a:solidFill>
                  <a:srgbClr val="BFD4F2"/>
                </a:solidFill>
                <a:latin typeface="Microsoft YaHei"/>
                <a:ea typeface="Microsoft YaHei"/>
              </a:rPr>
              <a:t>从进程到线程管理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3790950"/>
            <a:ext cx="876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75">
                <a:solidFill>
                  <a:srgbClr val="8FB0E0"/>
                </a:solidFill>
                <a:latin typeface="Microsoft YaHei"/>
                <a:ea typeface="Microsoft YaHei"/>
              </a:rPr>
              <a:t>Operating Systems Review: From Processes to Threads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6038850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BFD4F2"/>
                </a:solidFill>
                <a:latin typeface="Microsoft YaHei"/>
                <a:ea typeface="Microsoft YaHei"/>
              </a:rPr>
              <a:t>课程：计算机操作系统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819400" y="6048375"/>
            <a:ext cx="9525" cy="190500"/>
          </a:xfrm>
          <a:prstGeom prst="rect">
            <a:avLst/>
          </a:prstGeom>
          <a:solidFill>
            <a:srgbClr val="4A6DB5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171825" y="6038850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BFD4F2"/>
                </a:solidFill>
                <a:latin typeface="Microsoft YaHei"/>
                <a:ea typeface="Microsoft YaHei"/>
              </a:rPr>
              <a:t>时间：</a:t>
            </a:r>
            <a:r>
              <a:rPr lang="en-US" sz="1350">
                <a:solidFill>
                  <a:srgbClr val="BFD4F2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350">
                <a:solidFill>
                  <a:srgbClr val="BFD4F2"/>
                </a:solidFill>
                <a:latin typeface="Microsoft YaHei"/>
                <a:ea typeface="Microsoft YaHei"/>
              </a:rPr>
              <a:t>年</a:t>
            </a:r>
            <a:r>
              <a:rPr lang="en-US" sz="1350">
                <a:solidFill>
                  <a:srgbClr val="BFD4F2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350">
                <a:solidFill>
                  <a:srgbClr val="BFD4F2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width: 1280, height: 720, background: '#FFFFFF', position: 'relative' }}&gt;&#10;  &lt;Box style={{ position: 'absolute', top: 104, left: 40, width: 320, height: 556, background: '#0E3F8C', borderRadius: 10, padding: 30, flexDirection: 'column', justifyContent: 'space-between' }}&gt;&#10;    &lt;Box style={{ flexDirection: 'column', gap: 16 }}&gt;&#10;      &lt;Text style={{ fontSize: 32, fontWeight: 'bold', color: '#FFFFFF' }}&gt;回顾框架&lt;/Text&gt;&#10;      &lt;Text style={{ fontSize: 20, color: '#BFD4F2' }}&gt;布鲁姆认知模型六层次&lt;/Text&gt;&#10;      &lt;Box style={{ width: 60, height: 3, background: '#FFC107', marginTop: 6 }} /&gt;&#10;      &lt;Text style={{ fontSize: 16, color: '#8FB0E0', lineHeight: 1.7, marginTop: 12 }}&gt;以&quot;从进程到线程管理&quot;为主线，用六个认知层次串联操作系统概论的核心知识点，层层递进。&lt;/Text&gt;&#10;    &lt;/Box&gt;&#10;    &lt;Box style={{ background: '#1E4FA8', borderRadius: 8, padding: '10px 16px' }}&gt;&#10;      &lt;Text style={{ fontSize: 16, color: '#FFFFFF', textAlign: 'center' }}&gt;展示时长 5–8 分钟 · 每层次 1 页&lt;/Text&gt;&#10;    &lt;/Box&gt;&#10;  &lt;/Box&gt;&#10;  &lt;Box style={{ position: 'absolute', top: 104, left: 384, width: 856, height: 556, flexDirection: 'column', justifyContent: 'space-between' }}&gt;&#10;    {[&#10;      { n: '01', t: '记忆', d: '核心概念：内核、原语、PCB、五态模型、线程' },&#10;      { n: '02', t: '理解', d: '进程与线程的分工：为什么引入线程' },&#10;      { n: '03', t: '应用', d: '三种多线程模型与真实系统中的运用' },&#10;      { n: '04', t: '分析', d: '并发执行的间断性与不可再现性' },&#10;      { n: '05', t: '评估', d: '用户级线程与内核级线程的权衡' },&#10;      { n: '06', t: '创新', d: '动手验证线程同步问题并延伸思考' },&#10;    ].map((item) =&gt; (&#10;      &lt;Box key={item.n} style={{ flexDirection: 'row', alignItems: 'center', gap: 18, height: 82, background: '#F7F9FC', border: '1px solid #D6DCE5', borderRadius: 8, padding: '0 22px' }}&gt;&#10;        &lt;Box style={{ width: 44, height: 44, background: '#1E4FA8', borderRadius: 6, justifyContent: 'center', alignItems: 'center' }}&gt;&#10;          &lt;Text style={{ fontSize: 20, fontWeight: 'bold', color: '#FFFFFF' }}&gt;{item.n}&lt;/Text&gt;&#10;        &lt;/Box&gt;&#10;        &lt;Box style={{ flexDirection: 'column', gap: 4 }}&gt;&#10;          &lt;Text style={{ fontSize: 22, fontWeight: 'bold', color: '#1A2230' }}&gt;{item.t}&lt;/Text&gt;&#10;          &lt;Text style={{ fontSize: 16, color: '#4A5568' }}&gt;{item.d}&lt;/Text&gt;&#10;        &lt;/Box&gt;&#10;      &lt;/Box&gt;&#10;    ))}&#10;  &lt;/Box&gt;&#10;  &lt;Box style={{ position: 'absolute', top: 660, left: 40, width: 1200, height: 40, flexDirection: 'row', justifyContent: 'space-between', alignItems: 'center' }}&gt;&#10;    &lt;Text style={{ fontSize: 14, color: '#8B97A8' }}&gt;计算机操作系统 · 课堂回顾&lt;/Text&gt;&#10;    &lt;Text style={{ fontSize: 14, color: '#1E4FA8' }}&gt;02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381000" y="990600"/>
            <a:ext cx="3048000" cy="5295900"/>
          </a:xfrm>
          <a:prstGeom prst="roundRect">
            <a:avLst>
              <a:gd name="adj" fmla="val 312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66750" y="1276350"/>
            <a:ext cx="2476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回顾框架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66750" y="1800225"/>
            <a:ext cx="247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BFD4F2"/>
                </a:solidFill>
                <a:latin typeface="Microsoft YaHei"/>
                <a:ea typeface="Microsoft YaHei"/>
              </a:rPr>
              <a:t>布鲁姆认知模型六层次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666750" y="2238375"/>
            <a:ext cx="5715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66750" y="2533650"/>
            <a:ext cx="24765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8FB0E0"/>
                </a:solidFill>
                <a:latin typeface="Microsoft YaHei"/>
                <a:ea typeface="Microsoft YaHei"/>
              </a:rPr>
              <a:t>以</a:t>
            </a:r>
            <a:r>
              <a:rPr lang="en-US" sz="1200">
                <a:solidFill>
                  <a:srgbClr val="8FB0E0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8FB0E0"/>
                </a:solidFill>
                <a:latin typeface="Microsoft YaHei"/>
                <a:ea typeface="Microsoft YaHei"/>
              </a:rPr>
              <a:t>从进程到线程管理</a:t>
            </a:r>
            <a:r>
              <a:rPr lang="en-US" sz="1200">
                <a:solidFill>
                  <a:srgbClr val="8FB0E0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8FB0E0"/>
                </a:solidFill>
                <a:latin typeface="Microsoft YaHei"/>
                <a:ea typeface="Microsoft YaHei"/>
              </a:rPr>
              <a:t>为主线，用六个认知层次串联操作系统概论的核心知识点，层层递进。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66750" y="5438775"/>
            <a:ext cx="2476500" cy="561975"/>
          </a:xfrm>
          <a:prstGeom prst="roundRect">
            <a:avLst>
              <a:gd name="adj" fmla="val 1355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19150" y="5534025"/>
            <a:ext cx="2171700" cy="37147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展示时长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5–8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每层次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3657600" y="990600"/>
            <a:ext cx="8153400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3867150" y="1171575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962400" y="126682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457700" y="1143000"/>
            <a:ext cx="3190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记忆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457700" y="1438275"/>
            <a:ext cx="3190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核心概念：内核、原语、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PCB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、五态模型、线程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3657600" y="1895475"/>
            <a:ext cx="8153400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3867150" y="20764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962400" y="21717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457700" y="2047875"/>
            <a:ext cx="2438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理解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457700" y="234315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进程与线程的分工：为什么引入线程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3657600" y="2800350"/>
            <a:ext cx="8153400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3867150" y="2981325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962400" y="307657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457700" y="2952750"/>
            <a:ext cx="2438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应用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457700" y="3248025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三种多线程模型与真实系统中的运用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3657600" y="3695700"/>
            <a:ext cx="8153400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3867150" y="3876675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3962400" y="397192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457700" y="3848100"/>
            <a:ext cx="2133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分析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457700" y="414337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并发执行的间断性与不可再现性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3657600" y="4600575"/>
            <a:ext cx="8153400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3867150" y="47815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962400" y="48768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457700" y="4752975"/>
            <a:ext cx="2133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评估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457700" y="504825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用户级线程与内核级线程的权衡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3657600" y="5505450"/>
            <a:ext cx="8153400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3867150" y="5686425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962400" y="578167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457700" y="5657850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创新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457700" y="595312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动手验证线程同步问题并延伸思考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计算机操作系统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课堂回顾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02 / 09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3" name="" descr="&lt;Slide style={{ width: 1280, height: 720, background: '#FFFFFF', position: 'relative' }}&gt;&#10;  &lt;Box style={{ position: 'absolute', top: 0, left: 0, width: 1280, height: 88, background: '#1E4FA8', flexDirection: 'row', alignItems: 'center', padding: '0 40px', gap: 16 }}&gt;&#10;    &lt;Box style={{ background: '#FFC107', borderRadius: 14, padding: '4px 14px' }}&gt;&#10;      &lt;Text style={{ fontSize: 16, fontWeight: 'bold', color: '#0E3F8C' }}&gt;记忆&lt;/Text&gt;&#10;    &lt;/Box&gt;&#10;    &lt;Text style={{ fontSize: 30, fontWeight: 'bold', color: '#FFFFFF' }}&gt;核心概念关键词速览&lt;/Text&gt;&#10;  &lt;/Box&gt;&#10;  &lt;Box style={{ position: 'absolute', top: 104, left: 40, width: 1200, height: 556, flexDirection: 'column', gap: 20 }}&gt;&#10;    &lt;Box style={{ flexDirection: 'row', gap: 20, flex: 1 }}&gt;&#10;      {[&#10;        { n: '1', t: '操作系统内核', d: '贴近硬件的核心部分，负责中断处理、时钟处理与原语操作。' },&#10;        { n: '2', t: '原语 Primitive', d: '由若干条指令组成，执行要么全做、要么不做，不可分割。' },&#10;        { n: '3', t: '进程的组成', d: '进程 = 程序 + PCB + 数据，PCB 是进程存在的唯一标志。' },&#10;      ].map((c) =&gt; (&#10;        &lt;Box key={c.n} style={{ flex: 1, background: '#F7F9FC', border: '1px solid #D6DCE5', borderRadius: 8, padding: 20, flexDirection: 'column', gap: 12 }}&gt;&#10;          &lt;Box style={{ flexDirection: 'row', alignItems: 'center', gap: 10 }}&gt;&#10;            &lt;Box style={{ width: 30, height: 30, background: '#1E4FA8', borderRadius: 6, justifyContent: 'center', alignItems: 'center' }}&gt;&#10;              &lt;Text style={{ fontSize: 16, fontWeight: 'bold', color: '#FFFFFF' }}&gt;{c.n}&lt;/Text&gt;&#10;            &lt;/Box&gt;&#10;            &lt;Text style={{ fontSize: 24, fontWeight: 'bold', color: '#1A2230' }}&gt;{c.t}&lt;/Text&gt;&#10;          &lt;/Box&gt;&#10;          &lt;Text style={{ fontSize: 22, color: '#4A5568', lineHeight: 1.5 }}&gt;{c.d}&lt;/Text&gt;&#10;        &lt;/Box&gt;&#10;      ))}&#10;    &lt;/Box&gt;&#10;    &lt;Box style={{ flexDirection: 'row', gap: 20, flex: 1 }}&gt;&#10;      {[&#10;        { n: '4', t: 'PCB 组织方式', d: '线性、链接、索引三种方式组织进程控制块，便于管理与调度。' },&#10;        { n: '5', t: '进程五态模型', d: '创建 → 就绪 → 运行 → 阻塞 → 终止，状态转换由进程控制完成。' },&#10;        { n: '6', t: '线程 Thread', d: '调度与分派的基本单位，本身不拥有系统资源，共享所属进程资源。' },&#10;      ].map((c) =&gt; (&#10;        &lt;Box key={c.n} style={{ flex: 1, background: '#F7F9FC', border: '1px solid #D6DCE5', borderRadius: 8, padding: 20, flexDirection: 'column', gap: 12 }}&gt;&#10;          &lt;Box style={{ flexDirection: 'row', alignItems: 'center', gap: 10 }}&gt;&#10;            &lt;Box style={{ width: 30, height: 30, background: '#1E4FA8', borderRadius: 6, justifyContent: 'center', alignItems: 'center' }}&gt;&#10;              &lt;Text style={{ fontSize: 16, fontWeight: 'bold', color: '#FFFFFF' }}&gt;{c.n}&lt;/Text&gt;&#10;            &lt;/Box&gt;&#10;            &lt;Text style={{ fontSize: 24, fontWeight: 'bold', color: '#1A2230' }}&gt;{c.t}&lt;/Text&gt;&#10;          &lt;/Box&gt;&#10;          &lt;Text style={{ fontSize: 22, color: '#4A5568', lineHeight: 1.5 }}&gt;{c.d}&lt;/Text&gt;&#10;        &lt;/Box&gt;&#10;      ))}&#10;    &lt;/Box&gt;&#10;  &lt;/Box&gt;&#10;  &lt;Box style={{ position: 'absolute', top: 660, left: 40, width: 1200, height: 40, flexDirection: 'row', justifyContent: 'space-between', alignItems: 'center' }}&gt;&#10;    &lt;Text style={{ fontSize: 14, color: '#8B97A8' }}&gt;计算机操作系统 · 课堂回顾&lt;/Text&gt;&#10;    &lt;Text style={{ fontSize: 14, color: '#1E4FA8' }}&gt;03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381000" y="285750"/>
            <a:ext cx="571500" cy="2667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14350" y="3238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记忆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104900" y="24765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核心概念关键词速览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381000" y="990600"/>
            <a:ext cx="3686175" cy="2552700"/>
          </a:xfrm>
          <a:prstGeom prst="roundRect">
            <a:avLst>
              <a:gd name="adj" fmla="val 298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571500" y="11811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66750" y="12287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52500" y="1190625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操作系统内核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71500" y="1581150"/>
            <a:ext cx="330517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贴近硬件的核心部分，负责中断处理、时钟处理与原语操作。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4257675" y="990600"/>
            <a:ext cx="3676650" cy="2552700"/>
          </a:xfrm>
          <a:prstGeom prst="roundRect">
            <a:avLst>
              <a:gd name="adj" fmla="val 298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4448175" y="11811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543425" y="12287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829175" y="1190625"/>
            <a:ext cx="1562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原语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Primitive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448175" y="1581150"/>
            <a:ext cx="32956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由若干条指令组成，执行要么全做、要么不做，不可分割。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8124825" y="990600"/>
            <a:ext cx="3686175" cy="2552700"/>
          </a:xfrm>
          <a:prstGeom prst="roundRect">
            <a:avLst>
              <a:gd name="adj" fmla="val 298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8315325" y="11811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410575" y="12287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696325" y="119062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进程的组成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315325" y="1581150"/>
            <a:ext cx="330517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进程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程序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PCB +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数据，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PCB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是进程存在的唯一标志。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381000" y="3733800"/>
            <a:ext cx="3686175" cy="2552700"/>
          </a:xfrm>
          <a:prstGeom prst="roundRect">
            <a:avLst>
              <a:gd name="adj" fmla="val 298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571500" y="39243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66750" y="39719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952500" y="3933825"/>
            <a:ext cx="1447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PCB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组织方式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71500" y="4324350"/>
            <a:ext cx="330517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线性、链接、索引三种方式组织进程控制块，便于管理与调度。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4257675" y="3733800"/>
            <a:ext cx="3676650" cy="2552700"/>
          </a:xfrm>
          <a:prstGeom prst="roundRect">
            <a:avLst>
              <a:gd name="adj" fmla="val 298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4448175" y="39243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543425" y="39719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829175" y="3933825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进程五态模型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448175" y="4324350"/>
            <a:ext cx="32956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创建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就绪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运行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阻塞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终止，状态转换由进程控制完成。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8124825" y="3733800"/>
            <a:ext cx="3686175" cy="2552700"/>
          </a:xfrm>
          <a:prstGeom prst="roundRect">
            <a:avLst>
              <a:gd name="adj" fmla="val 298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8315325" y="39243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410575" y="39719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696325" y="3933825"/>
            <a:ext cx="1333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线程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Thread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315325" y="4324350"/>
            <a:ext cx="330517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调度与分派的基本单位，本身不拥有系统资源，共享所属进程资源。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计算机操作系统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课堂回顾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03 / 09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1" name="" descr="&lt;Slide style={{ width: 1280, height: 720, background: '#FFFFFF', position: 'relative' }}&gt;&#10;  &lt;Box style={{ position: 'absolute', top: 0, left: 0, width: 1280, height: 88, background: '#1E4FA8', flexDirection: 'row', alignItems: 'center', padding: '0 40px', gap: 16 }}&gt;&#10;    &lt;Box style={{ background: '#FFC107', borderRadius: 14, padding: '4px 14px' }}&gt;&#10;      &lt;Text style={{ fontSize: 16, fontWeight: 'bold', color: '#0E3F8C' }}&gt;理解&lt;/Text&gt;&#10;    &lt;/Box&gt;&#10;    &lt;Text style={{ fontSize: 30, fontWeight: 'bold', color: '#FFFFFF' }}&gt;为什么要引入线程&lt;/Text&gt;&#10;  &lt;/Box&gt;&#10;  &lt;Box style={{ position: 'absolute', top: 104, left: 40, width: 1200, height: 556, flexDirection: 'row', gap: 20 }}&gt;&#10;    &lt;Box style={{ width: 690, height: 556, background: '#F7F9FC', border: '1px solid #D6DCE5', borderRadius: 8, justifyContent: 'center', alignItems: 'center' }}&gt;&#10;      &lt;svg width={650} height={520} viewBox='0 0 650 520'&gt;&#10;        &lt;rect x='30' y='20' width='590' height='470' rx='12' fill='#FFFFFF' stroke='#1E4FA8' strokeWidth='2.5' /&gt;&#10;        &lt;text x='55' y='58' fill='#1E4FA8' fontSize='22' fontWeight='bold'&gt;进程（资源分配的基本单位）&lt;/text&gt;&#10;        &lt;rect x='60' y='80' width='530' height='76' rx='8' fill='#E8EFF8' stroke='#3D7BD9' strokeWidth='1.5' /&gt;&#10;        &lt;text x='120' y='126' fill='#1A2230' fontSize='19'&gt;共享资源：代码段 · 数据段 · 打开文件 · 地址空间&lt;/text&gt;&#10;        &lt;rect x='60' y='186' width='160' height='270' rx='8' fill='#FFFFFF' stroke='#3D7BD9' strokeWidth='2' /&gt;&#10;        &lt;rect x='252' y='186' width='160' height='270' rx='8' fill='#FFFFFF' stroke='#3D7BD9' strokeWidth='2' /&gt;&#10;        &lt;rect x='444' y='186' width='146' height='270' rx='8' fill='#FFFFFF' stroke='#3D7BD9' strokeWidth='2' /&gt;&#10;        &lt;text x='105' y='222' fill='#1E4FA8' fontSize='19' fontWeight='bold'&gt;线程 1&lt;/text&gt;&#10;        &lt;text x='297' y='222' fill='#1E4FA8' fontSize='19' fontWeight='bold'&gt;线程 2&lt;/text&gt;&#10;        &lt;text x='487' y='222' fill='#1E4FA8' fontSize='19' fontWeight='bold'&gt;线程 3&lt;/text&gt;&#10;        &lt;rect x='80' y='244' width='120' height='54' rx='6' fill='#E8EFF8' /&gt;&#10;        &lt;rect x='272' y='244' width='120' height='54' rx='6' fill='#E8EFF8' /&gt;&#10;        &lt;rect x='458' y='244' width='118' height='54' rx='6' fill='#E8EFF8' /&gt;&#10;        &lt;text x='103' y='278' fill='#4A5568' fontSize='16'&gt;TCB 控制块&lt;/text&gt;&#10;        &lt;text x='295' y='278' fill='#4A5568' fontSize='16'&gt;TCB 控制块&lt;/text&gt;&#10;        &lt;text x='481' y='278' fill='#4A5568' fontSize='16'&gt;TCB 控制块&lt;/text&gt;&#10;        &lt;rect x='80' y='316' width='120' height='54' rx='6' fill='#E8EFF8' /&gt;&#10;        &lt;rect x='272' y='316' width='120' height='54' rx='6' fill='#E8EFF8' /&gt;&#10;        &lt;rect x='458' y='316' width='118' height='54' rx='6' fill='#E8EFF8' /&gt;&#10;        &lt;text x='122' y='350' fill='#4A5568' fontSize='16'&gt;独立栈&lt;/text&gt;&#10;        &lt;text x='314' y='350' fill='#4A5568' fontSize='16'&gt;独立栈&lt;/text&gt;&#10;        &lt;text x='500' y='350' fill='#4A5568' fontSize='16'&gt;独立栈&lt;/text&gt;&#10;        &lt;rect x='80' y='388' width='120' height='54' rx='6' fill='#E8EFF8' /&gt;&#10;        &lt;rect x='272' y='388' width='120' height='54' rx='6' fill='#E8EFF8' /&gt;&#10;        &lt;rect x='458' y='388' width='118' height='54' rx='6' fill='#E8EFF8' /&gt;&#10;        &lt;text x='100' y='422' fill='#4A5568' fontSize='16'&gt;寄存器组&lt;/text&gt;&#10;        &lt;text x='292' y='422' fill='#4A5568' fontSize='16'&gt;寄存器组&lt;/text&gt;&#10;        &lt;text x='478' y='422' fill='#4A5568' fontSize='16'&gt;寄存器组&lt;/text&gt;&#10;        &lt;text x='60' y='512' fill='#8B97A8' fontSize='15'&gt;一个进程内的多个线程共享资源、各自独立调度执行&lt;/text&gt;&#10;      &lt;/svg&gt;&#10;    &lt;/Box&gt;&#10;    &lt;Box style={{ flex: 1, height: 556, flexDirection: 'column', gap: 16 }}&gt;&#10;      &lt;Box style={{ flex: 1, background: '#E8EFF8', borderRadius: 8, padding: '14px 20px', flexDirection: 'column', justifyContent: 'center' }}&gt;&#10;        &lt;Text style={{ fontSize: 24, fontWeight: 'bold', color: '#0E3F8C' }}&gt;进程&lt;/Text&gt;&#10;        &lt;Text style={{ fontSize: 22, color: '#1A2230', lineHeight: 1.5 }}&gt;拥有资源的基本单位，负责&quot;持有&quot;内存、文件等系统资源。&lt;/Text&gt;&#10;      &lt;/Box&gt;&#10;      &lt;Box style={{ flex: 1, background: '#E8EFF8', borderRadius: 8, padding: '14px 20px', flexDirection: 'column', justifyContent: 'center' }}&gt;&#10;        &lt;Text style={{ fontSize: 24, fontWeight: 'bold', color: '#0E3F8C' }}&gt;线程&lt;/Text&gt;&#10;        &lt;Text style={{ fontSize: 22, color: '#1A2230', lineHeight: 1.5 }}&gt;调度与分派的基本单位，负责&quot;跑起来&quot;，是进程内的一条执行流。&lt;/Text&gt;&#10;      &lt;/Box&gt;&#10;      &lt;Box style={{ flex: 1, background: '#F7F9FC', border: '1px solid #D6DCE5', borderRadius: 8, padding: '14px 20px', flexDirection: 'column', justifyContent: 'center' }}&gt;&#10;        &lt;Text style={{ fontSize: 24, fontWeight: 'bold', color: '#1A2230' }}&gt;引入线程的收益&lt;/Text&gt;&#10;        &lt;Text style={{ fontSize: 22, color: '#4A5568', lineHeight: 1.5 }}&gt;切换不换地址空间、开销小；共享资源、通信方便；并发度显著提高。&lt;/Text&gt;&#10;      &lt;/Box&gt;&#10;      &lt;Box style={{ height: 88, background: '#0E3F8C', borderRadius: 8, justifyContent: 'center', padding: '0 20px' }}&gt;&#10;        &lt;Text style={{ fontSize: 22, fontWeight: 'bold', color: '#FFFFFF', lineHeight: 1.4 }}&gt;结论：把&quot;调度&quot;从重型资源单位中剥离，并发更轻、更快。&lt;/Text&gt;&#10;      &lt;/Box&gt;&#10;    &lt;/Box&gt;&#10;  &lt;/Box&gt;&#10;  &lt;Box style={{ position: 'absolute', top: 660, left: 40, width: 1200, height: 40, flexDirection: 'row', justifyContent: 'space-between', alignItems: 'center' }}&gt;&#10;    &lt;Text style={{ fontSize: 14, color: '#8B97A8' }}&gt;计算机操作系统 · 课堂回顾&lt;/Text&gt;&#10;    &lt;Text style={{ fontSize: 14, color: '#1E4FA8' }}&gt;04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381000" y="285750"/>
            <a:ext cx="571500" cy="2667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514350" y="3238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理解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104900" y="247650"/>
            <a:ext cx="2286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为什么要引入线程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381000" y="990600"/>
            <a:ext cx="6572250" cy="5295900"/>
          </a:xfrm>
          <a:prstGeom prst="roundRect">
            <a:avLst>
              <a:gd name="adj" fmla="val 143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162050"/>
            <a:ext cx="6191250" cy="4953000"/>
          </a:xfrm>
          <a:prstGeom prst="rect">
            <a:avLst/>
          </a:prstGeom>
          <a:ln/>
        </p:spPr>
      </p:pic>
      <p:sp>
        <p:nvSpPr>
          <p:cNvPr id="99" name=""/>
          <p:cNvSpPr/>
          <p:nvPr/>
        </p:nvSpPr>
        <p:spPr>
          <a:xfrm rot="0" flipH="0" flipV="0">
            <a:off x="7143750" y="990600"/>
            <a:ext cx="4667250" cy="1333500"/>
          </a:xfrm>
          <a:prstGeom prst="roundRect">
            <a:avLst>
              <a:gd name="adj" fmla="val 5714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334250" y="1143000"/>
            <a:ext cx="4286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进程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334250" y="1419225"/>
            <a:ext cx="42862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拥有资源的基本单位，负责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持有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内存、文件等系统资源。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7143750" y="2476500"/>
            <a:ext cx="4667250" cy="1333500"/>
          </a:xfrm>
          <a:prstGeom prst="roundRect">
            <a:avLst>
              <a:gd name="adj" fmla="val 5714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334250" y="2628900"/>
            <a:ext cx="4286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线程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334250" y="2905125"/>
            <a:ext cx="42862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调度与分派的基本单位，负责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跑起来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，是进程内的一条执行流。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7143750" y="3962400"/>
            <a:ext cx="4667250" cy="133350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334250" y="4114800"/>
            <a:ext cx="4286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引入线程的收益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334250" y="4391025"/>
            <a:ext cx="42862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切换不换地址空间、开销小；共享资源、通信方便；并发度显著提高。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7143750" y="5448300"/>
            <a:ext cx="4667250" cy="838200"/>
          </a:xfrm>
          <a:prstGeom prst="roundRect">
            <a:avLst>
              <a:gd name="adj" fmla="val 909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334250" y="5514975"/>
            <a:ext cx="42862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结论：把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调度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从重型资源单位中剥离，并发更轻、更快。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计算机操作系统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课堂回顾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04 / 09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2" name="" descr="&lt;Slide style={{ width: 1280, height: 720, background: '#FFFFFF', position: 'relative' }}&gt;&#10;  &lt;Box style={{ position: 'absolute', top: 0, left: 0, width: 1280, height: 88, background: '#1E4FA8', flexDirection: 'row', alignItems: 'center', padding: '0 40px', gap: 16 }}&gt;&#10;    &lt;Box style={{ background: '#FFC107', borderRadius: 14, padding: '4px 14px' }}&gt;&#10;      &lt;Text style={{ fontSize: 16, fontWeight: 'bold', color: '#0E3F8C' }}&gt;应用&lt;/Text&gt;&#10;    &lt;/Box&gt;&#10;    &lt;Text style={{ fontSize: 30, fontWeight: 'bold', color: '#FFFFFF' }}&gt;三种多线程模型与真实场景&lt;/Text&gt;&#10;  &lt;/Box&gt;&#10;  &lt;Box style={{ position: 'absolute', top: 104, left: 40, width: 1200, height: 556, flexDirection: 'column', gap: 16 }}&gt;&#10;    &lt;Box style={{ height: 300, background: '#F7F9FC', border: '1px solid #D6DCE5', borderRadius: 8, justifyContent: 'center', alignItems: 'center' }}&gt;&#10;      &lt;svg width={1160} height={270} viewBox='0 0 1160 270'&gt;&#10;        &lt;text x='150' y='28' fill='#1E4FA8' fontSize='21' fontWeight='bold'&gt;多对一模型&lt;/text&gt;&#10;        &lt;rect x='40' y='60' width='120' height='44' rx='6' fill='#E8EFF8' stroke='#3D7BD9' strokeWidth='1.5' /&gt;&#10;        &lt;rect x='40' y='118' width='120' height='44' rx='6' fill='#E8EFF8' stroke='#3D7BD9' strokeWidth='1.5' /&gt;&#10;        &lt;rect x='40' y='176' width='120' height='44' rx='6' fill='#E8EFF8' stroke='#3D7BD9' strokeWidth='1.5' /&gt;&#10;        &lt;rect x='290' y='118' width='120' height='44' rx='6' fill='#1E4FA8' /&gt;&#10;        &lt;text x='52' y='88' fill='#1A2230' fontSize='15'&gt;用户线程 1&lt;/text&gt;&#10;        &lt;text x='52' y='146' fill='#1A2230' fontSize='15'&gt;用户线程 2&lt;/text&gt;&#10;        &lt;text x='52' y='204' fill='#1A2230' fontSize='15'&gt;用户线程 3&lt;/text&gt;&#10;        &lt;text x='316' y='146' fill='#FFFFFF' fontSize='15'&gt;内核线程&lt;/text&gt;&#10;        &lt;path d='M160 82 C 230 82, 230 138, 288 138' stroke='#3D7BD9' strokeWidth='2' fill='none' /&gt;&#10;        &lt;path d='M160 140 L 288 140' stroke='#3D7BD9' strokeWidth='2' fill='none' /&gt;&#10;        &lt;path d='M160 198 C 230 198, 230 142, 288 142' stroke='#3D7BD9' strokeWidth='2' fill='none' /&gt;&#10;&#10;        &lt;text x='560' y='28' fill='#1E4FA8' fontSize='21' fontWeight='bold'&gt;一对一模型&lt;/text&gt;&#10;        &lt;rect x='450' y='60' width='120' height='44' rx='6' fill='#E8EFF8' stroke='#3D7BD9' strokeWidth='1.5' /&gt;&#10;        &lt;rect x='450' y='118' width='120' height='44' rx='6' fill='#E8EFF8' stroke='#3D7BD9' strokeWidth='1.5' /&gt;&#10;        &lt;rect x='450' y='176' width='120' height='44' rx='6' fill='#E8EFF8' stroke='#3D7BD9' strokeWidth='1.5' /&gt;&#10;        &lt;rect x='700' y='60' width='120' height='44' rx='6' fill='#1E4FA8' /&gt;&#10;        &lt;rect x='700' y='118' width='120' height='44' rx='6' fill='#1E4FA8' /&gt;&#10;        &lt;rect x='700' y='176' width='120' height='44' rx='6' fill='#1E4FA8' /&gt;&#10;        &lt;text x='462' y='88' fill='#1A2230' fontSize='15'&gt;用户线程 1&lt;/text&gt;&#10;        &lt;text x='462' y='146' fill='#1A2230' fontSize='15'&gt;用户线程 2&lt;/text&gt;&#10;        &lt;text x='462' y='204' fill='#1A2230' fontSize='15'&gt;用户线程 3&lt;/text&gt;&#10;        &lt;text x='712' y='88' fill='#FFFFFF' fontSize='15'&gt;内核线程 1&lt;/text&gt;&#10;        &lt;text x='712' y='146' fill='#FFFFFF' fontSize='15'&gt;内核线程 2&lt;/text&gt;&#10;        &lt;text x='712' y='204' fill='#FFFFFF' fontSize='15'&gt;内核线程 3&lt;/text&gt;&#10;        &lt;path d='M570 82 L 698 82' stroke='#3D7BD9' strokeWidth='2' fill='none' /&gt;&#10;        &lt;path d='M570 140 L 698 140' stroke='#3D7BD9' strokeWidth='2' fill='none' /&gt;&#10;        &lt;path d='M570 198 L 698 198' stroke='#3D7BD9' strokeWidth='2' fill='none' /&gt;&#10;&#10;        &lt;text x='975' y='28' fill='#1E4FA8' fontSize='21' fontWeight='bold'&gt;多对多模型&lt;/text&gt;&#10;        &lt;rect x='860' y='60' width='120' height='44' rx='6' fill='#E8EFF8' stroke='#3D7BD9' strokeWidth='1.5' /&gt;&#10;        &lt;rect x='860' y='118' width='120' height='44' rx='6' fill='#E8EFF8' stroke='#3D7BD9' strokeWidth='1.5' /&gt;&#10;        &lt;rect x='860' y='176' width='120' height='44' rx='6' fill='#E8EFF8' stroke='#3D7BD9' strokeWidth='1.5' /&gt;&#10;        &lt;rect x='1040' y='88' width='110' height='44' rx='6' fill='#1E4FA8' /&gt;&#10;        &lt;rect x='1040' y='150' width='110' height='44' rx='6' fill='#1E4FA8' /&gt;&#10;        &lt;text x='872' y='88' fill='#1A2230' fontSize='15'&gt;用户线程 1&lt;/text&gt;&#10;        &lt;text x='872' y='146' fill='#1A2230' fontSize='15'&gt;用户线程 2&lt;/text&gt;&#10;        &lt;text x='872' y='204' fill='#1A2230' fontSize='15'&gt;用户线程 3&lt;/text&gt;&#10;        &lt;text x='1048' y='116' fill='#FFFFFF' fontSize='15'&gt;内核线程 1&lt;/text&gt;&#10;        &lt;text x='1048' y='178' fill='#FFFFFF' fontSize='15'&gt;内核线程 2&lt;/text&gt;&#10;        &lt;path d='M980 82 C 1015 82, 1015 108, 1038 108' stroke='#3D7BD9' strokeWidth='2' fill='none' /&gt;&#10;        &lt;path d='M980 140 C 1020 140, 1020 112, 1038 112' stroke='#3D7BD9' strokeWidth='2' fill='none' /&gt;&#10;        &lt;path d='M980 140 C 1020 140, 1020 168, 1038 168' stroke='#3D7BD9' strokeWidth='2' fill='none' /&gt;&#10;        &lt;path d='M980 198 C 1015 198, 1015 174, 1038 174' stroke='#3D7BD9' strokeWidth='2' fill='none' /&gt;&#10;      &lt;/svg&gt;&#10;    &lt;/Box&gt;&#10;    &lt;Box style={{ flexDirection: 'row', gap: 20, flex: 1 }}&gt;&#10;      {[&#10;        { t: '多对一', d: '管理开销小、切换快，但无法利用多核，一个线程阻塞会阻塞整个进程。', tag: '场景：早期用户级线程库' },&#10;        { t: '一对一', d: '真正的多核并行、并发度高，但每建一个线程都有内核创建开销。', tag: '场景：Linux pthread、Windows 线程' },&#10;        { t: '多对多', d: '多个用户线程映射到少量内核线程，兼顾低开销与并行能力。', tag: '场景：现代语言运行时的调度思想' },&#10;      ].map((c) =&gt; (&#10;        &lt;Box key={c.t} style={{ flex: 1, background: '#F7F9FC', border: '1px solid #D6DCE5', borderRadius: 8, padding: 20, flexDirection: 'column', justifyContent: 'space-between' }}&gt;&#10;          &lt;Text style={{ fontSize: 24, fontWeight: 'bold', color: '#0E3F8C' }}&gt;{c.t}&lt;/Text&gt;&#10;          &lt;Text style={{ fontSize: 22, color: '#4A5568', lineHeight: 1.5 }}&gt;{c.d}&lt;/Text&gt;&#10;          &lt;Text style={{ fontSize: 16, color: '#1E4FA8' }}&gt;{c.tag}&lt;/Text&gt;&#10;        &lt;/Box&gt;&#10;      ))}&#10;    &lt;/Box&gt;&#10;  &lt;/Box&gt;&#10;  &lt;Box style={{ position: 'absolute', top: 660, left: 40, width: 1200, height: 40, flexDirection: 'row', justifyContent: 'space-between', alignItems: 'center' }}&gt;&#10;    &lt;Text style={{ fontSize: 14, color: '#8B97A8' }}&gt;计算机操作系统 · 课堂回顾&lt;/Text&gt;&#10;    &lt;Text style={{ fontSize: 14, color: '#1E4FA8' }}&gt;05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381000" y="285750"/>
            <a:ext cx="571500" cy="2667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14350" y="3238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应用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04900" y="247650"/>
            <a:ext cx="3429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三种多线程模型与真实场景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381000" y="990600"/>
            <a:ext cx="11430000" cy="28575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133475"/>
            <a:ext cx="11049000" cy="2571750"/>
          </a:xfrm>
          <a:prstGeom prst="rect">
            <a:avLst/>
          </a:prstGeom>
          <a:ln/>
        </p:spPr>
      </p:pic>
      <p:sp>
        <p:nvSpPr>
          <p:cNvPr id="120" name=""/>
          <p:cNvSpPr/>
          <p:nvPr/>
        </p:nvSpPr>
        <p:spPr>
          <a:xfrm rot="0" flipH="0" flipV="0">
            <a:off x="381000" y="4000500"/>
            <a:ext cx="3686175" cy="2286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71500" y="4191000"/>
            <a:ext cx="3305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多对一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71500" y="4619625"/>
            <a:ext cx="3305175" cy="1133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管理开销小、切换快，但无法利用多核，一个线程阻塞会阻塞整个进程。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71500" y="5905500"/>
            <a:ext cx="3305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场景：早期用户级线程库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4257675" y="4000500"/>
            <a:ext cx="3676650" cy="2286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448175" y="4191000"/>
            <a:ext cx="3295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一对一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448175" y="4810125"/>
            <a:ext cx="32956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真正的多核并行、并发度高，但每建一个线程都有内核创建开销。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448175" y="5905500"/>
            <a:ext cx="3295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场景：</a:t>
            </a: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Linux pthread</a:t>
            </a: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 xml:space="preserve">Windows </a:t>
            </a: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线程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8124825" y="4000500"/>
            <a:ext cx="3686175" cy="2286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315325" y="4191000"/>
            <a:ext cx="3305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多对多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315325" y="4810125"/>
            <a:ext cx="330517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多个用户线程映射到少量内核线程，兼顾低开销与并行能力。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315325" y="5905500"/>
            <a:ext cx="3305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场景：现代语言运行时的调度思想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计算机操作系统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课堂回顾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05 / 09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4" name="" descr="&lt;Slide style={{ width: 1280, height: 720, background: '#FFFFFF', position: 'relative' }}&gt;&#10;  &lt;Box style={{ position: 'absolute', top: 0, left: 0, width: 1280, height: 88, background: '#1E4FA8', flexDirection: 'row', alignItems: 'center', padding: '0 40px', gap: 16 }}&gt;&#10;    &lt;Box style={{ background: '#FFC107', borderRadius: 14, padding: '4px 14px' }}&gt;&#10;      &lt;Text style={{ fontSize: 16, fontWeight: 'bold', color: '#0E3F8C' }}&gt;分析&lt;/Text&gt;&#10;    &lt;/Box&gt;&#10;    &lt;Text style={{ fontSize: 30, fontWeight: 'bold', color: '#FFFFFF' }}&gt;并发执行：结果为什么不可再现&lt;/Text&gt;&#10;  &lt;/Box&gt;&#10;  &lt;Box style={{ position: 'absolute', top: 104, left: 40, width: 1200, height: 556, flexDirection: 'column', gap: 16 }}&gt;&#10;    &lt;Box style={{ flexDirection: 'row', gap: 20, flex: 1 }}&gt;&#10;      &lt;Box style={{ flex: 1, flexDirection: 'column', gap: 16 }}&gt;&#10;        &lt;Box style={{ flex: 1, background: '#F7F9FC', border: '1px solid #D6DCE5', borderRadius: 8, padding: '14px 20px', flexDirection: 'column', justifyContent: 'center' }}&gt;&#10;          &lt;Text style={{ fontSize: 24, fontWeight: 'bold', color: '#0E3F8C' }}&gt;间断性&lt;/Text&gt;&#10;          &lt;Text style={{ fontSize: 22, color: '#4A5568', lineHeight: 1.5 }}&gt;并发进程/线程相互制约，执行时走时停，呈现&quot;执行—暂停—执行&quot;的特征。&lt;/Text&gt;&#10;        &lt;/Box&gt;&#10;        &lt;Box style={{ flex: 1, background: '#F7F9FC', border: '1px solid #D6DCE5', borderRadius: 8, padding: '14px 20px', flexDirection: 'column', justifyContent: 'center' }}&gt;&#10;          &lt;Text style={{ fontSize: 24, fontWeight: 'bold', color: '#0E3F8C' }}&gt;不可再现性&lt;/Text&gt;&#10;          &lt;Text style={{ fontSize: 22, color: '#4A5568', lineHeight: 1.5 }}&gt;A、B 共享变量 N 且并发运行，运行次序不可预知，重复执行结果可能不同。&lt;/Text&gt;&#10;        &lt;/Box&gt;&#10;        &lt;Box style={{ flex: 1, background: '#E8EFF8', borderRadius: 8, padding: '14px 20px', flexDirection: 'column', justifyContent: 'center' }}&gt;&#10;          &lt;Text style={{ fontSize: 24, fontWeight: 'bold', color: '#0E3F8C' }}&gt;线程视角的延伸&lt;/Text&gt;&#10;          &lt;Text style={{ fontSize: 22, color: '#1A2230', lineHeight: 1.5 }}&gt;同一进程内的线程天然共享数据，数据竞争更直接——这正是互斥与同步要解决的问题。&lt;/Text&gt;&#10;        &lt;/Box&gt;&#10;      &lt;/Box&gt;&#10;      &lt;Box style={{ width: 680, background: '#F7F9FC', border: '1px solid #D6DCE5', borderRadius: 8, justifyContent: 'center', alignItems: 'center' }}&gt;&#10;        &lt;svg width={600} height={436} viewBox='0 0 660 480'&gt;&#10;          &lt;text x='40' y='40' fill='#1E4FA8' fontSize='19' fontWeight='bold'&gt;时序 1：先加后打印&lt;/text&gt;&#10;          &lt;rect x='40' y='62' width='185' height='56' rx='8' fill='#E8EFF8' stroke='#3D7BD9' strokeWidth='1.5' /&gt;&#10;          &lt;text x='56' y='98' fill='#1A2230' fontSize='17'&gt;A：N = N + 1&lt;/text&gt;&#10;          &lt;path d='M225 90 L 275 90' stroke='#3D7BD9' strokeWidth='2' fill='none' /&gt;&#10;          &lt;path d='M275 84 L 291 90 L 275 96 Z' fill='#3D7BD9' /&gt;&#10;          &lt;rect x='295' y='62' width='185' height='56' rx='8' fill='#E8EFF8' stroke='#3D7BD9' strokeWidth='1.5' /&gt;&#10;          &lt;text x='311' y='98' fill='#1A2230' fontSize='17'&gt;B：print(N)&lt;/text&gt;&#10;          &lt;path d='M480 90 L 530 90' stroke='#3D7BD9' strokeWidth='2' fill='none' /&gt;&#10;          &lt;path d='M530 84 L 546 90 L 530 96 Z' fill='#3D7BD9' /&gt;&#10;          &lt;rect x='550' y='62' width='90' height='56' rx='8' fill='#1E4FA8' /&gt;&#10;          &lt;text x='573' y='98' fill='#FFFFFF' fontSize='17'&gt;输出 1&lt;/text&gt;&#10;&#10;          &lt;text x='40' y='230' fill='#1E4FA8' fontSize='19' fontWeight='bold'&gt;时序 2：先打印后加&lt;/text&gt;&#10;          &lt;rect x='40' y='252' width='185' height='56' rx='8' fill='#E8EFF8' stroke='#3D7BD9' strokeWidth='1.5' /&gt;&#10;          &lt;text x='56' y='288' fill='#1A2230' fontSize='17'&gt;B：print(N)&lt;/text&gt;&#10;          &lt;path d='M225 280 L 275 280' stroke='#3D7BD9' strokeWidth='2' fill='none' /&gt;&#10;          &lt;path d='M275 274 L 291 280 L 275 286 Z' fill='#3D7BD9' /&gt;&#10;          &lt;rect x='295' y='252' width='185' height='56' rx='8' fill='#E8EFF8' stroke='#3D7BD9' strokeWidth='1.5' /&gt;&#10;          &lt;text x='311' y='288' fill='#1A2230' fontSize='17'&gt;A：N = N + 1&lt;/text&gt;&#10;          &lt;path d='M480 280 L 530 280' stroke='#3D7BD9' strokeWidth='2' fill='none' /&gt;&#10;          &lt;path d='M530 274 L 546 280 L 530 286 Z' fill='#3D7BD9' /&gt;&#10;          &lt;rect x='550' y='252' width='90' height='56' rx='8' fill='#D9534F' /&gt;&#10;          &lt;text x='573' y='288' fill='#FFFFFF' fontSize='17'&gt;输出 0&lt;/text&gt;&#10;&#10;          &lt;text x='40' y='392' fill='#1A2230' fontSize='18'&gt;同样的两个语句，交替次序不同：&lt;/text&gt;&#10;          &lt;text x='40' y='428' fill='#D9534F' fontSize='19' fontWeight='bold'&gt;运行结果不可预知、不可再现 → 必须同步互斥&lt;/text&gt;&#10;          &lt;text x='40' y='464' fill='#8B97A8' fontSize='15'&gt;互斥的底层思想与&quot;原语：要么全做、要么不做&quot;一脉相承&lt;/text&gt;&#10;        &lt;/svg&gt;&#10;      &lt;/Box&gt;&#10;    &lt;/Box&gt;&#10;    &lt;Box style={{ height: 88, background: '#0E3F8C', borderRadius: 8, justifyContent: 'center', padding: '0 24px' }}&gt;&#10;      &lt;Text style={{ fontSize: 22, fontWeight: 'bold', color: '#FFFFFF' }}&gt;结论：并发带来效率，也带来竞争——共享数据的访问必须受控，线程同步由此成为核心问题。&lt;/Text&gt;&#10;    &lt;/Box&gt;&#10;  &lt;/Box&gt;&#10;  &lt;Box style={{ position: 'absolute', top: 660, left: 40, width: 1200, height: 40, flexDirection: 'row', justifyContent: 'space-between', alignItems: 'center' }}&gt;&#10;    &lt;Text style={{ fontSize: 14, color: '#8B97A8' }}&gt;计算机操作系统 · 课堂回顾&lt;/Text&gt;&#10;    &lt;Text style={{ fontSize: 14, color: '#1E4FA8' }}&gt;06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381000" y="285750"/>
            <a:ext cx="571500" cy="2667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14350" y="3238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分析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04900" y="247650"/>
            <a:ext cx="4000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并发执行：结果为什么不可再现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381000" y="990600"/>
            <a:ext cx="4762500" cy="133350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71500" y="1143000"/>
            <a:ext cx="4381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间断性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71500" y="1419225"/>
            <a:ext cx="43815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并发进程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线程相互制约，执行时走时停，呈现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执行—暂停—执行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的特征。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381000" y="2476500"/>
            <a:ext cx="4762500" cy="133350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571500" y="2628900"/>
            <a:ext cx="4381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不可再现性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71500" y="2905125"/>
            <a:ext cx="43815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共享变量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且并发运行，运行次序不可预知，重复执行结果可能不同。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381000" y="3962400"/>
            <a:ext cx="4762500" cy="1333500"/>
          </a:xfrm>
          <a:prstGeom prst="roundRect">
            <a:avLst>
              <a:gd name="adj" fmla="val 5714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571500" y="4114800"/>
            <a:ext cx="4381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线程视角的延伸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71500" y="4391025"/>
            <a:ext cx="43815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同一进程内的线程天然共享数据，数据竞争更直接——这正是互斥与同步要解决的问题。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5334000" y="990600"/>
            <a:ext cx="6477000" cy="4305300"/>
          </a:xfrm>
          <a:prstGeom prst="roundRect">
            <a:avLst>
              <a:gd name="adj" fmla="val 177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0" y="1066800"/>
            <a:ext cx="5715000" cy="4152900"/>
          </a:xfrm>
          <a:prstGeom prst="rect">
            <a:avLst/>
          </a:prstGeom>
          <a:ln/>
        </p:spPr>
      </p:pic>
      <p:sp>
        <p:nvSpPr>
          <p:cNvPr id="151" name=""/>
          <p:cNvSpPr/>
          <p:nvPr/>
        </p:nvSpPr>
        <p:spPr>
          <a:xfrm rot="0" flipH="0" flipV="0">
            <a:off x="381000" y="5448300"/>
            <a:ext cx="11430000" cy="838200"/>
          </a:xfrm>
          <a:prstGeom prst="roundRect">
            <a:avLst>
              <a:gd name="adj" fmla="val 909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5743575"/>
            <a:ext cx="10972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结论：并发带来效率，也带来竞争——共享数据的访问必须受控，线程同步由此成为核心问题。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计算机操作系统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课堂回顾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06 / 09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55" name="" descr="&lt;Slide style={{ width: 1280, height: 720, background: '#FFFFFF', position: 'relative' }}&gt;&#10;  &lt;Box style={{ position: 'absolute', top: 0, left: 0, width: 1280, height: 88, background: '#1E4FA8', flexDirection: 'row', alignItems: 'center', padding: '0 40px', gap: 16 }}&gt;&#10;    &lt;Box style={{ background: '#FFC107', borderRadius: 14, padding: '4px 14px' }}&gt;&#10;      &lt;Text style={{ fontSize: 16, fontWeight: 'bold', color: '#0E3F8C' }}&gt;评估&lt;/Text&gt;&#10;    &lt;/Box&gt;&#10;    &lt;Text style={{ fontSize: 30, fontWeight: 'bold', color: '#FFFFFF' }}&gt;用户级线程 vs 内核级线程&lt;/Text&gt;&#10;  &lt;/Box&gt;&#10;  &lt;Box style={{ position: 'absolute', top: 104, left: 40, width: 1200, height: 556, flexDirection: 'column', gap: 16 }}&gt;&#10;    &lt;Table&#10;      style={{ width: 1200, height: 452 }}&#10;      defaultTextStyle={{ fontSize: 20, textAlign: 'center', color: '#1A2230' }}&#10;      defaultCellStyle={{&#10;        border: {&#10;          left: { width: 1, color: '#D6DCE5' },&#10;          right: { width: 1, color: '#D6DCE5' },&#10;          top: { width: 1, color: '#D6DCE5' },&#10;          bottom: { width: 1, color: '#D6DCE5' },&#10;        },&#10;      }}&#10;      cells={[&#10;        [&#10;          { text: '对比维度', textStyle: { bold: true, color: '#FFFFFF', fontSize: 20 }, cellStyle: { background: { color: '#1E4FA8' } } },&#10;          { text: '用户级线程（ULT）', textStyle: { bold: true, color: '#FFFFFF', fontSize: 20 }, cellStyle: { background: { color: '#1E4FA8' } } },&#10;          { text: '内核级线程（KLT）', textStyle: { bold: true, color: '#FFFFFF', fontSize: 20 }, cellStyle: { background: { color: '#1E4FA8' } } },&#10;        ],&#10;        ['管理者', '线程库 / 运行时系统（用户态）', '操作系统内核'],&#10;        [&#10;          { text: '切换开销', cellStyle: { background: { color: '#F7F9FC' } } },&#10;          { text: '小，无需陷入内核态', cellStyle: { background: { color: '#F7F9FC' } } },&#10;          { text: '较大，需内核态切换', cellStyle: { background: { color: '#F7F9FC' } } },&#10;        ],&#10;        ['多核并行', '无法真正并行', '可在多核上并行调度'],&#10;        [&#10;          { text: '一个线程阻塞', cellStyle: { background: { color: '#F7F9FC' } } },&#10;          { text: '整个进程随之阻塞', cellStyle: { background: { color: '#F7F9FC' } } },&#10;          { text: '仅该线程阻塞', cellStyle: { background: { color: '#F7F9FC' } } },&#10;        ],&#10;        ['典型实现', '早期用户级线程库、协程库', 'Linux pthread、Windows 线程'],&#10;      ]}&#10;    /&gt;&#10;    &lt;Box style={{ height: 88, background: '#E8EFF8', borderRadius: 8, justifyContent: 'center', padding: '0 24px', flexDirection: 'column' }}&gt;&#10;      &lt;Text style={{ fontSize: 22, fontWeight: 'bold', color: '#0E3F8C' }}&gt;评估结论：二者没有绝对优劣——ULT 轻快但受限，KLT 强大但开销大；&lt;/Text&gt;&#10;      &lt;Text style={{ fontSize: 22, color: '#1A2230' }}&gt;现代系统普遍采用&quot;多对多映射&quot;在两种方式之间取得折中。&lt;/Text&gt;&#10;    &lt;/Box&gt;&#10;  &lt;/Box&gt;&#10;  &lt;Box style={{ position: 'absolute', top: 660, left: 40, width: 1200, height: 40, flexDirection: 'row', justifyContent: 'space-between', alignItems: 'center' }}&gt;&#10;    &lt;Text style={{ fontSize: 14, color: '#8B97A8' }}&gt;计算机操作系统 · 课堂回顾&lt;/Text&gt;&#10;    &lt;Text style={{ fontSize: 14, color: '#1E4FA8' }}&gt;07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381000" y="285750"/>
            <a:ext cx="571500" cy="2667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14350" y="3238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评估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104900" y="247650"/>
            <a:ext cx="3333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用户级线程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vs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内核级线程</a:t>
            </a:r>
            <a:endParaRPr/>
          </a:p>
        </p:txBody>
      </p:sp>
      <p:graphicFrame>
        <p:nvGraphicFramePr>
          <p:cNvPr id="161" name=""/>
          <p:cNvGraphicFramePr/>
          <p:nvPr/>
        </p:nvGraphicFramePr>
        <p:xfrm rot="0" flipH="0" flipV="0">
          <a:off x="381000" y="990600"/>
          <a:ext cx="11430000" cy="4305300"/>
        </p:xfrm>
        <a:graphic>
          <a:graphicData uri="http://schemas.openxmlformats.org/drawingml/2006/table">
            <a:tbl>
              <a:tblGrid>
                <a:gridCol w="2069472">
                  <a:extLst>
                    <a:ext uri="{9D8B030D-6E8A-4147-A177-3AD203B41FA5}">
                      <a16:colId val="1"/>
                    </a:ext>
                  </a:extLst>
                </a:gridCol>
                <a:gridCol w="4640344">
                  <a:extLst>
                    <a:ext uri="{9D8B030D-6E8A-4147-A177-3AD203B41FA5}">
                      <a16:colId val="2"/>
                    </a:ext>
                  </a:extLst>
                </a:gridCol>
                <a:gridCol w="472018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175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对比维度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用户级线程（ULT）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内核级线程（KLT）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175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管理者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线程库 / 运行时系统（用户态）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操作系统内核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175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切换开销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小，无需陷入内核态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较大，需内核态切换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175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多核并行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无法真正并行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可在多核上并行调度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7175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一个线程阻塞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整个进程随之阻塞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仅该线程阻塞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7175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典型实现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早期用户级线程库、协程库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Linux pthread、Windows 线程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62" name=""/>
          <p:cNvSpPr/>
          <p:nvPr/>
        </p:nvSpPr>
        <p:spPr>
          <a:xfrm rot="0" flipH="0" flipV="0">
            <a:off x="381000" y="5448300"/>
            <a:ext cx="11430000" cy="838200"/>
          </a:xfrm>
          <a:prstGeom prst="roundRect">
            <a:avLst>
              <a:gd name="adj" fmla="val 909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5610225"/>
            <a:ext cx="10972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评估结论：二者没有绝对优劣——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ULT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轻快但受限，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KLT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强大但开销大；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9600" y="5867400"/>
            <a:ext cx="10972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现代系统普遍采用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多对多映射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在两种方式之间取得折中。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计算机操作系统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课堂回顾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07 / 09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67" name="" descr="&lt;Slide style={{ width: 1280, height: 720, background: '#FFFFFF', position: 'relative' }}&gt;&#10;  &lt;Box style={{ position: 'absolute', top: 104, left: 40, width: 300, height: 556, background: '#0E3F8C', borderRadius: 10, padding: 28, flexDirection: 'column', justifyContent: 'space-between' }}&gt;&#10;    &lt;Box style={{ flexDirection: 'column', gap: 14 }}&gt;&#10;      &lt;Box style={{ background: '#FFC107', borderRadius: 14, padding: '4px 14px', alignSelf: 'flex-start' }}&gt;&#10;        &lt;Text style={{ fontSize: 16, fontWeight: 'bold', color: '#0E3F8C' }}&gt;创新&lt;/Text&gt;&#10;      &lt;/Box&gt;&#10;      &lt;Text style={{ fontSize: 32, fontWeight: 'bold', color: '#FFFFFF' }}&gt;把线程管理用起来&lt;/Text&gt;&#10;      &lt;Box style={{ width: 60, height: 3, background: '#FFC107' }} /&gt;&#10;      &lt;Text style={{ fontSize: 18, color: '#BFD4F2', lineHeight: 1.7 }}&gt;从课堂概念走向动手实践：用一个可复现的小实验，验证&quot;共享数据必须同步&quot;。&lt;/Text&gt;&#10;    &lt;/Box&gt;&#10;    &lt;Text style={{ fontSize: 15, color: '#8FB0E0', lineHeight: 1.6 }}&gt;建议课后完成，下次课分享实验现象与修复方案。&lt;/Text&gt;&#10;  &lt;/Box&gt;&#10;  &lt;Box style={{ position: 'absolute', top: 104, left: 364, width: 876, height: 556, flexDirection: 'column', gap: 16 }}&gt;&#10;    {[&#10;      { n: '1', t: '思考题', d: '在 Java 中直接 new Thread 和使用线程池（ThreadPoolExecutor）有什么区别？从线程创建开销与&quot;一对一模型&quot;的角度分析。' },&#10;      { n: '2', t: '动手实验', d: '编写两个 Java 线程对同一个共享变量各执行 10000 次自增，观察&quot;丢失更新&quot;现象；再用 synchronized 或原子类修复它。' },&#10;      { n: '3', t: '前沿延伸', d: '协程（Coroutine）是比线程更轻量的执行流，由用户态调度——它与用户级线程的思想有何相通之处？' },&#10;    ].map((c) =&gt; (&#10;      &lt;Box key={c.n} style={{ flex: 1, background: '#F7F9FC', border: '1px solid #D6DCE5', borderRadius: 8, padding: '16px 22px', flexDirection: 'row', alignItems: 'center', gap: 20 }}&gt;&#10;        &lt;Box style={{ width: 48, height: 48, background: '#1E4FA8', borderRadius: 24, justifyContent: 'center', alignItems: 'center' }}&gt;&#10;          &lt;Text style={{ fontSize: 22, fontWeight: 'bold', color: '#FFFFFF' }}&gt;{c.n}&lt;/Text&gt;&#10;        &lt;/Box&gt;&#10;        &lt;Box style={{ flex: 1, flexDirection: 'column', gap: 6 }}&gt;&#10;          &lt;Text style={{ fontSize: 24, fontWeight: 'bold', color: '#0E3F8C' }}&gt;{c.t}&lt;/Text&gt;&#10;          &lt;Text style={{ fontSize: 22, color: '#4A5568', lineHeight: 1.45 }}&gt;{c.d}&lt;/Text&gt;&#10;        &lt;/Box&gt;&#10;      &lt;/Box&gt;&#10;    ))}&#10;  &lt;/Box&gt;&#10;  &lt;Box style={{ position: 'absolute', top: 660, left: 40, width: 1200, height: 40, flexDirection: 'row', justifyContent: 'space-between', alignItems: 'center' }}&gt;&#10;    &lt;Text style={{ fontSize: 14, color: '#8B97A8' }}&gt;计算机操作系统 · 课堂回顾&lt;/Text&gt;&#10;    &lt;Text style={{ fontSize: 14, color: '#1E4FA8' }}&gt;08 / 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381000" y="990600"/>
            <a:ext cx="2857500" cy="5295900"/>
          </a:xfrm>
          <a:prstGeom prst="roundRect">
            <a:avLst>
              <a:gd name="adj" fmla="val 333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647700" y="1257300"/>
            <a:ext cx="571500" cy="2667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81050" y="12954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创新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47700" y="1657350"/>
            <a:ext cx="23241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把线程管理用起来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47700" y="2524125"/>
            <a:ext cx="5715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47700" y="2686050"/>
            <a:ext cx="23241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BFD4F2"/>
                </a:solidFill>
                <a:latin typeface="Microsoft YaHei"/>
                <a:ea typeface="Microsoft YaHei"/>
              </a:rPr>
              <a:t>从课堂概念走向动手实践：用一个可复现的小实验，验证</a:t>
            </a:r>
            <a:r>
              <a:rPr lang="en-US" sz="1350">
                <a:solidFill>
                  <a:srgbClr val="BFD4F2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BFD4F2"/>
                </a:solidFill>
                <a:latin typeface="Microsoft YaHei"/>
                <a:ea typeface="Microsoft YaHei"/>
              </a:rPr>
              <a:t>共享数据必须同步</a:t>
            </a:r>
            <a:r>
              <a:rPr lang="en-US" sz="1350">
                <a:solidFill>
                  <a:srgbClr val="BFD4F2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BFD4F2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47700" y="5467350"/>
            <a:ext cx="2324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8FB0E0"/>
                </a:solidFill>
                <a:latin typeface="Microsoft YaHei"/>
                <a:ea typeface="Microsoft YaHei"/>
              </a:rPr>
              <a:t>建议课后完成，下次课分享实验现象与修复方案。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3467100" y="990600"/>
            <a:ext cx="8343900" cy="1666875"/>
          </a:xfrm>
          <a:prstGeom prst="roundRect">
            <a:avLst>
              <a:gd name="adj" fmla="val 457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367665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838575" y="1704975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324350" y="1295400"/>
            <a:ext cx="7277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思考题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324350" y="1628775"/>
            <a:ext cx="72771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在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Java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中直接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new Thread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和使用线程池（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ThreadPoolExecutor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）有什么区别？从线程创建开销与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一对一模型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的角度分析。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3467100" y="2809875"/>
            <a:ext cx="8343900" cy="1657350"/>
          </a:xfrm>
          <a:prstGeom prst="roundRect">
            <a:avLst>
              <a:gd name="adj" fmla="val 459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3676650" y="34099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3838575" y="3514725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324350" y="3105150"/>
            <a:ext cx="7277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动手实验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324350" y="3438525"/>
            <a:ext cx="72771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编写两个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Java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线程对同一个共享变量各执行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10000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次自增，观察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丢失更新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现象；再用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synchronized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或原子类修复它。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3467100" y="4619625"/>
            <a:ext cx="8343900" cy="1666875"/>
          </a:xfrm>
          <a:prstGeom prst="roundRect">
            <a:avLst>
              <a:gd name="adj" fmla="val 457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3676650" y="52292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838575" y="53340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324350" y="4924425"/>
            <a:ext cx="7277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前沿延伸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324350" y="5257800"/>
            <a:ext cx="72771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协程（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Coroutine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）是比线程更轻量的执行流，由用户态调度——它与用户级线程的思想有何相通之处？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计算机操作系统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课堂回顾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08 / 09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3" name="" descr="&lt;Slide style={{ width: 1280, height: 720, background: '#0E3F8C', position: 'relative' }}&gt;&#10;  &lt;svg width={1280} height={720} viewBox='0 0 1280 720' style={{ position: 'absolute', top: 0, left: 0, opacity: 0.12 }}&gt;&#10;    &lt;rect x='120' y='560' width='260' height='90' rx='10' fill='none' stroke='#FFFFFF' strokeWidth='2' /&gt;&#10;    &lt;rect x='420' y='560' width='110' height='90' rx='10' fill='none' stroke='#FFFFFF' strokeWidth='1.5' /&gt;&#10;    &lt;rect x='560' y='560' width='110' height='90' rx='10' fill='none' stroke='#FFFFFF' strokeWidth='1.5' /&gt;&#10;    &lt;text x='170' y='612' fill='#FFFFFF' fontSize='17'&gt;进程&lt;/text&gt;&#10;    &lt;text x='448' y='612' fill='#FFFFFF' fontSize='17'&gt;线程&lt;/text&gt;&#10;  &lt;/svg&gt;&#10;  &lt;Box style={{ position: 'absolute', top: 0, left: 0, width: 1280, height: 720, justifyContent: 'center', alignItems: 'center', flexDirection: 'column' }}&gt;&#10;    &lt;Box style={{ background: '#FFC107', borderRadius: 16, padding: '6px 20px', marginBottom: 32 }}&gt;&#10;      &lt;Text style={{ fontSize: 18, fontWeight: 'bold', color: '#0E3F8C' }}&gt;一句话总结&lt;/Text&gt;&#10;    &lt;/Box&gt;&#10;    &lt;Text style={{ fontSize: 40, fontWeight: 'bold', color: '#FFFFFF', textAlign: 'center', lineHeight: 1.6 }}&gt;&#10;      进程负责分配资源，线程负责把它跑起来，&lt;br /&gt;同步机制保证共享数据的正确。&#10;    &lt;/Text&gt;&#10;    &lt;Box style={{ width: 60, height: 3, background: '#FFC107', marginTop: 40 }} /&gt;&#10;    &lt;Text style={{ fontSize: 22, color: '#BFD4F2', marginTop: 36 }}&gt;谢谢聆听 · 欢迎提问与讨论&lt;/Text&gt;&#10;    &lt;Text style={{ fontSize: 16, color: '#8FB0E0', marginTop: 16 }}&gt;计算机操作系统 · 课堂回顾 · 2026 年 10 月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95" name="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96" name=""/>
          <p:cNvSpPr/>
          <p:nvPr/>
        </p:nvSpPr>
        <p:spPr>
          <a:xfrm rot="0" flipH="0" flipV="0">
            <a:off x="5476875" y="1704975"/>
            <a:ext cx="1238250" cy="323850"/>
          </a:xfrm>
          <a:prstGeom prst="roundRect">
            <a:avLst>
              <a:gd name="adj" fmla="val 47059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667375" y="17621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一句话总结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2476500" y="2333625"/>
            <a:ext cx="7239000" cy="14668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进程负责分配资源，线程负责把它跑起来，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同步机制保证共享数据的正确。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5810250" y="4181475"/>
            <a:ext cx="5715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857750" y="4552950"/>
            <a:ext cx="2486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BFD4F2"/>
                </a:solidFill>
                <a:latin typeface="Microsoft YaHei"/>
                <a:ea typeface="Microsoft YaHei"/>
              </a:rPr>
              <a:t>谢谢聆听</a:t>
            </a:r>
            <a:r>
              <a:rPr lang="en-US" sz="1650">
                <a:solidFill>
                  <a:srgbClr val="BFD4F2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BFD4F2"/>
                </a:solidFill>
                <a:latin typeface="Microsoft YaHei"/>
                <a:ea typeface="Microsoft YaHei"/>
              </a:rPr>
              <a:t>欢迎提问与讨论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638675" y="4962525"/>
            <a:ext cx="2914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B0E0"/>
                </a:solidFill>
                <a:latin typeface="Microsoft YaHei"/>
                <a:ea typeface="Microsoft YaHei"/>
              </a:rPr>
              <a:t>计算机操作系统</a:t>
            </a:r>
            <a:r>
              <a:rPr lang="en-US" sz="1200">
                <a:solidFill>
                  <a:srgbClr val="8FB0E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FB0E0"/>
                </a:solidFill>
                <a:latin typeface="Microsoft YaHei"/>
                <a:ea typeface="Microsoft YaHei"/>
              </a:rPr>
              <a:t>课堂回顾</a:t>
            </a:r>
            <a:r>
              <a:rPr lang="en-US" sz="1200">
                <a:solidFill>
                  <a:srgbClr val="8FB0E0"/>
                </a:solidFill>
                <a:latin typeface="Microsoft YaHei"/>
                <a:ea typeface="Microsoft YaHei"/>
              </a:rPr>
              <a:t xml:space="preserve"> · 2026 </a:t>
            </a:r>
            <a:r>
              <a:rPr lang="zh-CN" sz="1200">
                <a:solidFill>
                  <a:srgbClr val="8FB0E0"/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8FB0E0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>
                <a:solidFill>
                  <a:srgbClr val="8FB0E0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2026-10-09T18:47:38Z</dcterms:created>
  <dcterms:modified xsi:type="dcterms:W3CDTF">2026-10-09T18:47:38Z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{"AIGC":{"Label":"1","ContentProducer":"00119111010856365494821B355","ProduceID":"01a1203680557b93ade3879dc9df9b6f","ReservedCode1":"","ContentPropagator":"00119111010856365494821B355","PropagateID":"01a1203680557b93ade3879dc9df9b6f","ReservedCode2":""}}</vt:lpwstr>
  </property>
</Properties>
</file>